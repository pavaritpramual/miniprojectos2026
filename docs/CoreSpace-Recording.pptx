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หน้าปก</a:t>
            </a:r>
          </a:p>
          <a:p/>
          <a:p>
            <a:r>
              <a:t>**ธีรเมธ · 15 วินาที**</a:t>
            </a:r>
          </a:p>
          <a:p/>
          <a:p>
            <a:r>
              <a:t>สวัสดีครับ กลุ่มผู้ก้าวข้ามโชคชะตาด้วยมือของตัวเอง วันนี้นำเสนอ CoreSpace หัวข้อ Disk Space Visualization ครับ งานนี้ใช้ความรู้ OS อ่านข้อมูลไฟล์แล้วแสดงพื้นที่ผ่านเว็บ โดยมีศรัณย์ทำ C ปวริศช์ทำ Python และผมทำหน้าเว็บครับ</a:t>
            </a:r>
          </a:p>
          <a:p/>
          <a:p>
            <a:r>
              <a:t>บนหน้าปกใส่สมาชิกครบ โดยศรัณย์ใช้รหัส **673380515-1** ปวริศช์ **673380278-9** และธีรเมธ **673380273-9** ไม่ต้องอ่านรหัสทุกคนออกเสียง</a:t>
            </a:r>
          </a:p>
          <a:p/>
          <a:p/>
          <a:p/>
          <a:p>
            <a:r>
              <a:t>หลักฐาน: docs/results/REAL_SCANNER_INTEGRATION.md; โค้ด: scanner/diskviz-scan.c, backend/scan_manager.py, backend/allocated_size.py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ช่วยให้เรารู้ว่าโฟลเดอร์ใดใช้พื้นที่มาก</a:t>
            </a:r>
          </a:p>
          <a:p/>
          <a:p>
            <a:r>
              <a:t>**ธีรเมธ · 40 วินาที**</a:t>
            </a:r>
          </a:p>
          <a:p/>
          <a:p>
            <a:r>
              <a:t>เมื่อมีไฟล์กระจายหลายโฟลเดอร์ เราอาจไม่รู้ว่าอะไรใช้พื้นที่มาก งานนี้ให้เลือกโฟลเดอร์แล้วดูโครงสร้างและขนาดได้ครับ ตัวข้อมูลมาจากระบบปฏิบัติการ กราฟแท่งเปรียบเทียบขนาด Allocated สีเขียวคือโฟลเดอร์ สีน้ำเงินคือไฟล์ กดชื่อโฟลเดอร์เพื่อดูข้างในได้ ภาพนี้เป็นผล C และ Python จริงบน Windows แล้ว ต่อไปศรัณย์จะอธิบายว่าเราอ่านข้อมูลนั้นได้อย่างไรครับ</a:t>
            </a:r>
          </a:p>
          <a:p/>
          <a:p>
            <a:r>
              <a:t>ชี้กราฟจริงว่า many ประมาณ 64.1% และ large.bin ประมาณ 35.9% ของยอดโฟลเดอร์ที่อ่านได้ ความยาวแท่งเทียบกับรายการใหญ่ที่สุด ไม่ใช่เปอร์เซ็นต์ความจุไดรฟ์ ไม่แจกแจงทุกปุ่ม</a:t>
            </a:r>
          </a:p>
          <a:p/>
          <a:p/>
          <a:p/>
          <a:p>
            <a:r>
              <a:t>หลักฐาน: docs/results/REAL_SCANNER_INTEGRATION.md; โค้ด: scanner/diskviz-scan.c, backend/scan_manager.py, backend/allocated_size.py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อ่านขนาดไฟล์ได้โดยไม่ต้องอ่านเนื้อหาทั้งไฟล์</a:t>
            </a:r>
          </a:p>
          <a:p/>
          <a:p>
            <a:r>
              <a:t>**ศรัณย์ · 60 วินาที**</a:t>
            </a:r>
          </a:p>
          <a:p/>
          <a:p>
            <a:r>
              <a:t>ระบบไฟล์จัดเก็บชื่อและรายการใน directory ส่วนข้อมูลเกี่ยวกับไฟล์ เช่น ชนิดและขนาด เรียกว่า metadata ครับ โปรแกรมของเราเดินอ่านโฟลเดอร์และโฟลเดอร์ย่อย แล้วอ่าน metadata ของแต่ละรายการ ขนาดเนื้อหาอ่านจาก st_size จึงไม่ต้องเปิดอ่านเนื้อหาทั้งไฟล์เพื่อรู้ขนาด ข้อมูลนี้นำมาสร้าง tree และรวมขนาดของโฟลเดอร์ได้ครับ</a:t>
            </a:r>
          </a:p>
          <a:p/>
          <a:p>
            <a:r>
              <a:t>ใช้ child-001.txt จาก fixture แบบ VariedSizes มี st_size 1,024 ไบต์ประกอบ แยก tree ที่เราแสดงออกจากการจัดเก็บภายในของระบบไฟล์ ไม่บอกว่า tree บนเว็บคือโครงสร้างบนดิสก์ทั้งหมด</a:t>
            </a:r>
          </a:p>
          <a:p/>
          <a:p/>
          <a:p/>
          <a:p>
            <a:r>
              <a:t>หลักฐาน: docs/results/REAL_SCANNER_INTEGRATION.md; โค้ด: scanner/diskviz-scan.c, backend/scan_manager.py, backend/allocated_size.py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โปรแกรม C ขอข้อมูลไฟล์ผ่าน POSIX API</a:t>
            </a:r>
          </a:p>
          <a:p/>
          <a:p>
            <a:r>
              <a:t>**ศรัณย์ · 70 วินาที**</a:t>
            </a:r>
          </a:p>
          <a:p/>
          <a:p>
            <a:r>
              <a:t>ใน C เราใช้ opendir เปิด directory ใช้ readdir อ่านรายการ แล้วใช้ lstat อ่านชนิดกับขนาด โดย lstat ไม่ตาม symbolic link ไปยังปลายทาง เมื่อใช้เสร็จจะปิดด้วย closedir ครับ ถ้ามีข้อผิดพลาด โปรแกรมส่งเหตุผลกลับ ไม่ตีความว่าเป็นขนาดศูนย์ ลิงก์ที่ชี้กลับโฟลเดอร์เดิมจะถูกข้าม เพื่อป้องกันการเดินวนไม่จบ</a:t>
            </a:r>
          </a:p>
          <a:p/>
          <a:p>
            <a:r>
              <a:t>ชื่อเหล่านี้เป็นส่วนติดต่อ POSIX ผ่านไลบรารีระบบ ไม่ได้แปลว่าการเรียกทุกฟังก์ชันตรงกับ kernel system call หนึ่งครั้ง การขอข้อมูลจาก kernel เกิดอยู่ภายในส่วนนี้ครับ ต่อไปปวริศช์จะอธิบายว่า Python รับผลจาก C อย่างไร</a:t>
            </a:r>
          </a:p>
          <a:p/>
          <a:p>
            <a:r>
              <a:t>โชว์โค้ดจริงช่วงสั้น ๆ จาก `scanner/diskviz-scan.c` เน้นบรรทัดสำคัญ ห้ามบอกว่ามีผล strace ยืนยันแล้วหากยังไม่ได้เก็บหลักฐาน</a:t>
            </a:r>
          </a:p>
          <a:p/>
          <a:p/>
          <a:p/>
          <a:p>
            <a:r>
              <a:t>หลักฐาน: docs/results/REAL_SCANNER_INTEGRATION.md; โค้ด: scanner/diskviz-scan.c, backend/scan_manager.py, backend/allocated_size.py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กับ C เป็นคนละ process และส่งข้อมูลผ่าน pipe</a:t>
            </a:r>
          </a:p>
          <a:p/>
          <a:p>
            <a:r>
              <a:t>**ปวริศช์ · 70 วินาที**</a:t>
            </a:r>
          </a:p>
          <a:p/>
          <a:p>
            <a:r>
              <a:t>เว็บส่งคำขอผ่าน HTTP ให้ Python บน Windows จากนั้น Python เปิดโปรแกรม C ใน Ubuntu ผ่าน WSL ซึ่งยังอยู่บนคอมเครื่องเดียวครับ C กับ Python เป็นคนละ process จึงส่งข้อมูลกันผ่าน pipe โดย C เขียน stdout ทีละบรรทัดเป็น NDJSON และ Python อ่านเพื่อตรวจและบันทึกลง SQLite</a:t>
            </a:r>
          </a:p>
          <a:p/>
          <a:p>
            <a:r>
              <a:t>งานสแกนทำเบื้องหลัง เว็บจึงขอสถานะและรายการได้ระหว่างรอ เมื่อกดยกเลิก Python ส่ง TERM ไปยัง PID ของโปรแกรมใน Ubuntu ถ้าจำเป็นจึงใช้ KILL และตรวจว่าหยุดจริงก่อนรายงาน cancelled ไม่ใช่แค่หยุดถามสถานะบนเว็บครับ</a:t>
            </a:r>
          </a:p>
          <a:p/>
          <a:p>
            <a:r>
              <a:t>ชี้ลูกศร HTTP กับ pipe คนละเส้น แยก background thread ของ Python ออกจาก process ของ C ไม่อ้างว่ามีอัลกอริทึม CPU scheduling ใหม่</a:t>
            </a:r>
          </a:p>
          <a:p/>
          <a:p/>
          <a:p/>
          <a:p>
            <a:r>
              <a:t>หลักฐาน: docs/results/REAL_SCANNER_INTEGRATION.md; โค้ด: scanner/diskviz-scan.c, backend/scan_manager.py, backend/allocated_size.py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ขนาดเนื้อหากับพื้นที่ที่ใช้บนดิสก์อาจต่างกัน</a:t>
            </a:r>
          </a:p>
          <a:p/>
          <a:p>
            <a:r>
              <a:t>**ปวริศช์ · 60 วินาที**</a:t>
            </a:r>
          </a:p>
          <a:p/>
          <a:p>
            <a:r>
              <a:t>Logical คือขนาดเนื้อหาจาก metadata ที่ C อ่าน ส่วน Allocated ใช้ GetCompressedFileSizeW ของ Windows วัดครับ สองค่านี้อาจต่างกันจากวิธีจัดเก็บ เช่น ไฟล์บีบอัด แต่ไฟล์ตัวอย่างที่ตรวจในงานนี้ zero.bin ได้ศูนย์ทั้งสองค่า และ large.bin ได้ 1,048,576 ไบต์ทั้งสองค่า ซึ่งตรวจเทียบกับ Windows API อีกวิธีแล้ว</a:t>
            </a:r>
          </a:p>
          <a:p/>
          <a:p>
            <a:r>
              <a:t>ยอดโฟลเดอร์รวมไฟล์ที่อ่านได้ทั้งหมด ไม่ใช่เฉพาะ 50 แถวที่เห็น ค่าศูนย์หมายถึงวัดได้ศูนย์ ส่วน null หมายถึงยังไม่ทราบหรือวัดไม่ได้ และยอดนี้อาจไม่เท่าพื้นที่ใช้ทั้งไดรฟ์ เพราะรายการที่อ่านไม่ได้ ข้อมูลระบบ และ hard link ครับ ต่อไปจะเปิดโปรแกรมให้ดูจริง</a:t>
            </a:r>
          </a:p>
          <a:p/>
          <a:p>
            <a:r>
              <a:t>คำอธิบาย compressed/sparse เป็นทฤษฎี ไม่อ้างว่าได้ทดสอบกับไฟล์ชนิดนั้นแล้ว ไม่ใช้ Allocated ลบ Logical เป็น Slack เสมอ หลักฐานขนาดอยู่ใน [ผลรวมระบบ](results/REAL_SCANNER_INTEGRATION.md)</a:t>
            </a:r>
          </a:p>
          <a:p/>
          <a:p/>
          <a:p/>
          <a:p>
            <a:r>
              <a:t>หลักฐาน: docs/results/REAL_SCANNER_INTEGRATION.md; โค้ด: scanner/diskviz-scan.c, backend/scan_manager.py, backend/allocated_size.py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เดโมจริง 2 นาที</a:t>
            </a:r>
          </a:p>
          <a:p/>
          <a:p>
            <a:r>
              <a:t>**ธีรเมธ · 120 วินาที**</a:t>
            </a:r>
          </a:p>
          <a:p/>
          <a:p>
            <a:r>
              <a:t>เปิดเว็บปกติที่ `http://127.0.0.1:8080` ไม่ใช้ `/?mock=1` ก่อนอัดต้องเปิดเซิร์ฟเวอร์และตั้ง C แล้ว ใช้ fixture ที่สร้างด้วย `tools/prepare_demo_fixture.ps1 -Target &lt;โฟลเดอร์ใหม่&gt; -VariedSizes` เตรียมอีกชุดด้วย `-IncludeJunction` และสแกนเก็บไว้ก่อน อัดเฉพาะหน้าต่างเว็บพร้อมเสียงอธิบาย</a:t>
            </a:r>
          </a:p>
          <a:p/>
          <a:p>
            <a:r>
              <a:t>| เวลา | สิ่งที่ทำ | คำอธิบาย OS ที่พูด |</a:t>
            </a:r>
          </a:p>
          <a:p>
            <a:r>
              <a:t>| --- | --- | --- |</a:t>
            </a:r>
          </a:p>
          <a:p>
            <a:r>
              <a:t>| 00:00–00:30 | เลือก fixture ปกติแล้วกด Scan ดูจำนวนและสถานะ | Python เริ่ม process C และเว็บติดตามงานเบื้องหลัง ขนาดยังไม่ทราบจนได้รับข้อมูล |</a:t>
            </a:r>
          </a:p>
          <a:p>
            <a:r>
              <a:t>| 00:30–01:00 | ชี้กราฟ many กับ large.bin กดโฟลเดอร์จากกราฟ ดูกราฟลูก แล้วแสดงเพิ่มเติมจาก 50 จนได้ 60 กาง tree สั้น ๆ | ขนาดมาจาก metadata/Windows API กราฟใช้รายการที่โหลดแล้ว เว็บไม่ต้องโหลดทั้งไดรฟ์ |</a:t>
            </a:r>
          </a:p>
          <a:p>
            <a:r>
              <a:t>| 01:00–01:25 | กลับ root ดู zero.bin กับ large.bin และกด Reveal หนึ่งครั้ง | แยก metadata/ขนาดสองค่า และการเปิดตำแหน่งจากผลสแกน |</a:t>
            </a:r>
          </a:p>
          <a:p>
            <a:r>
              <a:t>| 01:25–02:00 | เปิดผล fixture junction จริงที่เตรียมไว้ แล้วเปิด “ดูเหตุผลที่ข้อมูลไม่ครบ” | OS มีรายการชนิดลิงก์ โปรแกรมข้าม back-to-root ไม่เดินวน และแสดง partial อย่างตรงไปตรงมา |</a:t>
            </a:r>
          </a:p>
          <a:p/>
          <a:p>
            <a:r>
              <a:t>คำพูดปิดเดโม: เราเห็นทั้งการอ่านข้อมูลไฟล์ การส่งข้อมูลระหว่าง process และการจัดการรายการที่ไม่เดินต่อ โดยผลที่ไม่ครบจะมีเหตุผลให้ตรวจครับ</a:t>
            </a:r>
          </a:p>
          <a:p/>
          <a:p>
            <a:r>
              <a:t>### เมื่อบันทึกเดโมมีปัญหา</a:t>
            </a:r>
          </a:p>
          <a:p/>
          <a:p>
            <a:r>
              <a:t>หากเริ่มสแกนไม่ได้ ให้แก้แล้วอัดช่วงนั้นใหม่ ไม่ใช้ mock แทนผลจริง หากผล junction ยังไม่ได้เตรียม ใช้ [ภาพเหตุผลจริง](results/real-web-issues.png) อธิบายเป็นภาพที่บันทึกไว้ได้ แต่ต้องบอกตรงว่าภาพไม่ใช่วิดีโอเดโม และหน้าเดโมยังรอไฟล์บันทึกหน้าจอจนกว่าจะอัดเสร็จ</a:t>
            </a:r>
          </a:p>
          <a:p/>
          <a:p>
            <a:r>
              <a:t>ไม่เริ่มสแกนทั้งไดรฟ์ใหม่ระหว่างเดโมหลัก การยกเลิกเป็นหัวข้อที่อธิบายจากผลทดสอบได้ หากมีเวลาและเตรียมงานจริงที่ยังทำอยู่จึงสาธิตเพิ่ม ห้ามใช้ผล cancelled เป็นผลทั้งไดรฟ์ที่สแกนจบแล้ว</a:t>
            </a:r>
          </a:p>
          <a:p/>
          <a:p/>
          <a:p/>
          <a:p>
            <a:r>
              <a:t>หลักฐาน: docs/results/REAL_SCANNER_INTEGRATION.md; โค้ด: scanner/diskviz-scan.c, backend/scan_manager.py, backend/allocated_size.py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ผลที่แสดงขึ้นอยู่กับรายการที่ OS อนุญาตให้อ่านได้</a:t>
            </a:r>
          </a:p>
          <a:p/>
          <a:p>
            <a:r>
              <a:t>**ธีรเมธ · 40 วินาที**</a:t>
            </a:r>
          </a:p>
          <a:p/>
          <a:p>
            <a:r>
              <a:t>ชุดโฟลเดอร์จริงรับครบ 64 ไฟล์และ 13 โฟลเดอร์ แบ่งรายการ 50 กับ 10 ได้ รวมทั้งชื่อไทยและความลึก 8 ชั้นครับ กราฟผ่านการตรวจ browser 7 กรณี ชุด Python ผ่าน 23 ข้อและข้าม 12 ข้อ โดย C tests 11 ข้อในนั้นรันใน Ubuntu แยกผ่านแล้ว อีกหนึ่งข้อเป็นการสแกนทั้งไดรฟ์ที่ไม่ได้เลือกเปิดในรอบนี้</a:t>
            </a:r>
          </a:p>
          <a:p/>
          <a:p>
            <a:r>
              <a:t>ข้อจำกัดคือยอดรวมอ้างเฉพาะไฟล์ที่อ่านได้ เราตรวจสแกนไดรฟ์ D และยกเลิกสำเร็จ แต่ยังไม่ได้รอจนจบทั้งไดรฟ์ และไม่ได้ยืนยันทุกกรณีสิทธิ์ NTFS ครับ</a:t>
            </a:r>
          </a:p>
          <a:p/>
          <a:p>
            <a:r>
              <a:t>ไม่ต้องอ่านรายชื่อเทสต์ทั้งหมด หากถูกถามเรื่องสิทธิ์ ให้แยก C tests บน Linux ออกจากสิทธิ์ NTFS บน Windows</a:t>
            </a:r>
          </a:p>
          <a:p/>
          <a:p/>
          <a:p/>
          <a:p>
            <a:r>
              <a:t>หลักฐาน: docs/results/REAL_SCANNER_INTEGRATION.md; โค้ด: scanner/diskviz-scan.c, backend/scan_manager.py, backend/allocated_size.py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ขอบคุณครับ</a:t>
            </a:r>
          </a:p>
          <a:p/>
          <a:p>
            <a:r>
              <a:t>**ธีรเมธ · 5 วินาที**</a:t>
            </a:r>
          </a:p>
          <a:p/>
          <a:p>
            <a:r>
              <a:t>ขอบคุณครับ</a:t>
            </a:r>
          </a:p>
          <a:p/>
          <a:p>
            <a:r>
              <a:t>แสดงชื่อ CoreSpace และ repository ไม่เพิ่มข้ออ้างหรือผลใหม่ในหน้าจบ</a:t>
            </a:r>
          </a:p>
          <a:p/>
          <a:p/>
          <a:p>
            <a:r>
              <a:t>หลักฐาน: docs/results/REAL_SCANNER_INTEGRATION.md; โค้ด: scanner/diskviz-scan.c, backend/scan_manager.py, backend/allocated_size.py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github.com/PavaritPramual/miniprojectOS2026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55664"/>
            <a:ext cx="1097280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400" b="0">
                <a:solidFill>
                  <a:srgbClr val="526575"/>
                </a:solidFill>
                <a:latin typeface="Sarabun"/>
              </a:defRPr>
            </a:pPr>
            <a:r>
              <a:t>01 / 09   ·   ธีรเมธ   ·   15 วินาที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881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6000" b="1">
                <a:solidFill>
                  <a:srgbClr val="244966"/>
                </a:solidFill>
                <a:latin typeface="Sarabun"/>
              </a:defRPr>
            </a:pPr>
            <a:r>
              <a:t>CoreSpace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3200" b="0">
                <a:solidFill>
                  <a:srgbClr val="244966"/>
                </a:solidFill>
                <a:latin typeface="Sarabun"/>
              </a:defRPr>
            </a:pPr>
            <a:r>
              <a:t>Disk Space Visualization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0604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800" b="1">
                <a:solidFill>
                  <a:srgbClr val="1F2933"/>
                </a:solidFill>
                <a:latin typeface="Sarabun"/>
              </a:defRPr>
            </a:pPr>
            <a:r>
              <a:t>ผู้ก้าวข้ามโชคชะตาด้วยมือของตัวเอง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520440"/>
            <a:ext cx="108813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600" b="0">
                <a:solidFill>
                  <a:srgbClr val="1F2933"/>
                </a:solidFill>
                <a:latin typeface="Sarabun"/>
              </a:defRPr>
            </a:pPr>
            <a:r>
              <a:t>นายศรัณย์ พาพรชัย     673380515-1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600" b="0">
                <a:solidFill>
                  <a:srgbClr val="1F2933"/>
                </a:solidFill>
                <a:latin typeface="Sarabun"/>
              </a:defRPr>
            </a:pPr>
            <a:r>
              <a:t>นายปวริศช์ ประมวล     673380278-9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600" b="0">
                <a:solidFill>
                  <a:srgbClr val="1F2933"/>
                </a:solidFill>
                <a:latin typeface="Sarabun"/>
              </a:defRPr>
            </a:pPr>
            <a:r>
              <a:t>นายธีรเมธ สายคำ     673380273-9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650992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400" b="0">
                <a:solidFill>
                  <a:srgbClr val="526575"/>
                </a:solidFill>
                <a:latin typeface="Sarabun"/>
              </a:defRPr>
            </a:pPr>
            <a:r>
              <a:t>วิชา Operating Systems · คลิปนำเสนอ 8 นาที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3600" b="1">
                <a:solidFill>
                  <a:srgbClr val="244966"/>
                </a:solidFill>
                <a:latin typeface="Sarabun"/>
              </a:defRPr>
            </a:pPr>
            <a:r>
              <a:t>โปรแกรมช่วยหาโฟลเดอร์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3600" b="1">
                <a:solidFill>
                  <a:srgbClr val="244966"/>
                </a:solidFill>
                <a:latin typeface="Sarabun"/>
              </a:defRPr>
            </a:pPr>
            <a:r>
              <a:t>ที่ใช้พื้นที่มาก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55664"/>
            <a:ext cx="1097280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400" b="0">
                <a:solidFill>
                  <a:srgbClr val="526575"/>
                </a:solidFill>
                <a:latin typeface="Sarabun"/>
              </a:defRPr>
            </a:pPr>
            <a:r>
              <a:t>02 / 09   ·   ธีรเมธ   ·   40 วินาที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65960"/>
            <a:ext cx="384048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600" b="0">
                <a:solidFill>
                  <a:srgbClr val="1F2933"/>
                </a:solidFill>
                <a:latin typeface="Sarabun"/>
              </a:defRPr>
            </a:pPr>
            <a:r>
              <a:t>กราฟแท่งเทียบขนาด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600" b="0">
                <a:solidFill>
                  <a:srgbClr val="1F2933"/>
                </a:solidFill>
                <a:latin typeface="Sarabun"/>
              </a:defRPr>
            </a:pPr>
            <a:r>
              <a:t>สีเขียว: โฟลเดอร์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600" b="0">
                <a:solidFill>
                  <a:srgbClr val="1F2933"/>
                </a:solidFill>
                <a:latin typeface="Sarabun"/>
              </a:defRPr>
            </a:pPr>
            <a:r>
              <a:t>สีน้ำเงิน: ไฟล์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600" b="0">
                <a:solidFill>
                  <a:srgbClr val="1F2933"/>
                </a:solidFill>
                <a:latin typeface="Sarabun"/>
              </a:defRPr>
            </a:pPr>
            <a:r>
              <a:t>กดชื่อโฟลเดอร์เพื่อดูข้างใน</a:t>
            </a:r>
          </a:p>
        </p:txBody>
      </p:sp>
      <p:pic>
        <p:nvPicPr>
          <p:cNvPr id="5" name="Picture 4" descr="size-bars-real-ro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8192" y="1874519"/>
            <a:ext cx="5914215" cy="3794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806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600" b="1">
                <a:solidFill>
                  <a:srgbClr val="244966"/>
                </a:solidFill>
                <a:latin typeface="Sarabun"/>
              </a:defRPr>
            </a:pPr>
            <a:r>
              <a:t>C ใน WSL → Python บน Windows → เว็บ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499616"/>
            <a:ext cx="6995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526575"/>
                </a:solidFill>
                <a:latin typeface="Sarabun"/>
              </a:defRPr>
            </a:pPr>
            <a:r>
              <a:t>ภาพผลจริงจาก C และ Python บน Windows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3600" b="1">
                <a:solidFill>
                  <a:srgbClr val="244966"/>
                </a:solidFill>
                <a:latin typeface="Sarabun"/>
              </a:defRPr>
            </a:pPr>
            <a:r>
              <a:t>รู้ขนาดไฟล์ได้จาก metadata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55664"/>
            <a:ext cx="1097280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400" b="0">
                <a:solidFill>
                  <a:srgbClr val="526575"/>
                </a:solidFill>
                <a:latin typeface="Sarabun"/>
              </a:defRPr>
            </a:pPr>
            <a:r>
              <a:t>03 / 09   ·   ศรัณย์   ·   60 วินาที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1920240" cy="731520"/>
          </a:xfrm>
          <a:prstGeom prst="rect">
            <a:avLst/>
          </a:prstGeom>
          <a:solidFill>
            <a:srgbClr val="E9EFF3"/>
          </a:solidFill>
          <a:ln w="15240">
            <a:solidFill>
              <a:srgbClr val="2449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>
                <a:solidFill>
                  <a:srgbClr val="244966"/>
                </a:solidFill>
                <a:latin typeface="Sarabun"/>
              </a:defRPr>
            </a:pPr>
            <a:r>
              <a:t>root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788920" y="2084831"/>
            <a:ext cx="457200" cy="201168"/>
          </a:xfrm>
          <a:prstGeom prst="rightArrow">
            <a:avLst/>
          </a:prstGeom>
          <a:solidFill>
            <a:srgbClr val="244966"/>
          </a:solidFill>
          <a:ln w="15240">
            <a:solidFill>
              <a:srgbClr val="2449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383280" y="1828800"/>
            <a:ext cx="1920240" cy="731520"/>
          </a:xfrm>
          <a:prstGeom prst="rect">
            <a:avLst/>
          </a:prstGeom>
          <a:solidFill>
            <a:srgbClr val="E9EFF3"/>
          </a:solidFill>
          <a:ln w="15240">
            <a:solidFill>
              <a:srgbClr val="2449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>
                <a:solidFill>
                  <a:srgbClr val="244966"/>
                </a:solidFill>
                <a:latin typeface="Sarabun"/>
              </a:defRPr>
            </a:pPr>
            <a:r>
              <a:t>many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440680" y="2084831"/>
            <a:ext cx="457200" cy="201168"/>
          </a:xfrm>
          <a:prstGeom prst="rightArrow">
            <a:avLst/>
          </a:prstGeom>
          <a:solidFill>
            <a:srgbClr val="244966"/>
          </a:solidFill>
          <a:ln w="15240">
            <a:solidFill>
              <a:srgbClr val="2449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35040" y="1828800"/>
            <a:ext cx="3108960" cy="731520"/>
          </a:xfrm>
          <a:prstGeom prst="rect">
            <a:avLst/>
          </a:prstGeom>
          <a:solidFill>
            <a:srgbClr val="E9EFF3"/>
          </a:solidFill>
          <a:ln w="15240">
            <a:solidFill>
              <a:srgbClr val="2449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>
                <a:solidFill>
                  <a:srgbClr val="244966"/>
                </a:solidFill>
                <a:latin typeface="Sarabun"/>
              </a:defRPr>
            </a:pPr>
            <a:r>
              <a:t>child-001.txt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50292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800" b="0">
                <a:solidFill>
                  <a:srgbClr val="1F2933"/>
                </a:solidFill>
                <a:latin typeface="Sarabun"/>
              </a:defRPr>
            </a:pPr>
            <a:r>
              <a:t>Directory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800" b="0">
                <a:solidFill>
                  <a:srgbClr val="1F2933"/>
                </a:solidFill>
                <a:latin typeface="Sarabun"/>
              </a:defRPr>
            </a:pPr>
            <a:r>
              <a:t>เก็บรายการไฟล์และโฟลเดอร์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017520"/>
            <a:ext cx="5120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600" b="0">
                <a:solidFill>
                  <a:srgbClr val="1F2933"/>
                </a:solidFill>
                <a:latin typeface="Sarabun"/>
              </a:defRPr>
            </a:pPr>
            <a:r>
              <a:t>metadata ของ child-001.txt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600" b="0">
                <a:solidFill>
                  <a:srgbClr val="1F2933"/>
                </a:solidFill>
                <a:latin typeface="Sarabun"/>
              </a:defRPr>
            </a:pPr>
            <a:r>
              <a:t>ชนิด: regular file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600" b="0">
                <a:solidFill>
                  <a:srgbClr val="1F2933"/>
                </a:solidFill>
                <a:latin typeface="Sarabun"/>
              </a:defRPr>
            </a:pPr>
            <a:r>
              <a:t>st_size: 1,024 bytes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48640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3000" b="1">
                <a:solidFill>
                  <a:srgbClr val="244966"/>
                </a:solidFill>
                <a:latin typeface="Sarabun"/>
              </a:defRPr>
            </a:pPr>
            <a:r>
              <a:t>อ่านขนาดได้โดยไม่ต้องอ่านเนื้อหาทั้งไฟล์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3600" b="1">
                <a:solidFill>
                  <a:srgbClr val="244966"/>
                </a:solidFill>
                <a:latin typeface="Sarabun"/>
              </a:defRPr>
            </a:pPr>
            <a:r>
              <a:t>C อ่านโฟลเดอร์ผ่าน POSIX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55664"/>
            <a:ext cx="1097280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400" b="0">
                <a:solidFill>
                  <a:srgbClr val="526575"/>
                </a:solidFill>
                <a:latin typeface="Sarabun"/>
              </a:defRPr>
            </a:pPr>
            <a:r>
              <a:t>04 / 09   ·   ศรัณย์   ·   70 วินาที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74519"/>
            <a:ext cx="4754880" cy="2880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800" b="0">
                <a:solidFill>
                  <a:srgbClr val="1F2933"/>
                </a:solidFill>
                <a:latin typeface="Sarabun"/>
              </a:defRPr>
            </a:pPr>
            <a:r>
              <a:t>เปิด directory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800" b="0">
                <a:solidFill>
                  <a:srgbClr val="1F2933"/>
                </a:solidFill>
                <a:latin typeface="Sarabun"/>
              </a:defRPr>
            </a:pPr>
            <a:r>
              <a:t>อ่านรายการถัดไป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800" b="0">
                <a:solidFill>
                  <a:srgbClr val="1F2933"/>
                </a:solidFill>
                <a:latin typeface="Sarabun"/>
              </a:defRPr>
            </a:pPr>
            <a:r>
              <a:t>อ่านชนิดและขนาด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800" b="0">
                <a:solidFill>
                  <a:srgbClr val="1F2933"/>
                </a:solidFill>
                <a:latin typeface="Sarabun"/>
              </a:defRPr>
            </a:pPr>
            <a:r>
              <a:t>ปิดเมื่อใช้เสร็จ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7840" y="1874519"/>
            <a:ext cx="5852160" cy="2880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400" b="0">
                <a:solidFill>
                  <a:srgbClr val="244966"/>
                </a:solidFill>
                <a:latin typeface="Consolas"/>
              </a:defRPr>
            </a:pPr>
            <a:r>
              <a:t>d = opendir(S.abs.p);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400" b="0">
                <a:solidFill>
                  <a:srgbClr val="244966"/>
                </a:solidFill>
                <a:latin typeface="Consolas"/>
              </a:defRPr>
            </a:pPr>
            <a:r>
              <a:t>e = readdir(d);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400" b="0">
                <a:solidFill>
                  <a:srgbClr val="244966"/>
                </a:solidFill>
                <a:latin typeface="Consolas"/>
              </a:defRPr>
            </a:pPr>
            <a:r>
              <a:t>lstat(S.abs.p, &amp;st);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400" b="0">
                <a:solidFill>
                  <a:srgbClr val="244966"/>
                </a:solidFill>
                <a:latin typeface="Consolas"/>
              </a:defRPr>
            </a:pPr>
            <a:r>
              <a:t>closedir(d);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9204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526575"/>
                </a:solidFill>
                <a:latin typeface="Sarabun"/>
              </a:defRPr>
            </a:pPr>
            <a:r>
              <a:t>ตัดเฉพาะบรรทัดหลักจากโค้ดจริง ไม่ใช่โค้ดครบทั้งฟังก์ชัน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48640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400" b="1">
                <a:solidFill>
                  <a:srgbClr val="1F2933"/>
                </a:solidFill>
                <a:latin typeface="Sarabun"/>
              </a:defRPr>
            </a:pPr>
            <a:r>
              <a:t>lstat ไม่ตาม symbolic link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400" b="1">
                <a:solidFill>
                  <a:srgbClr val="1F2933"/>
                </a:solidFill>
                <a:latin typeface="Sarabun"/>
              </a:defRPr>
            </a:pPr>
            <a:r>
              <a:t>POSIX API ใน libc ไม่ตรงกับ syscall หนึ่งต่อหนึ่งเสมอ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3600" b="1">
                <a:solidFill>
                  <a:srgbClr val="244966"/>
                </a:solidFill>
                <a:latin typeface="Sarabun"/>
              </a:defRPr>
            </a:pPr>
            <a:r>
              <a:t>Python และ C ส่งข้อมูลผ่าน pipe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55664"/>
            <a:ext cx="1097280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400" b="0">
                <a:solidFill>
                  <a:srgbClr val="526575"/>
                </a:solidFill>
                <a:latin typeface="Sarabun"/>
              </a:defRPr>
            </a:pPr>
            <a:r>
              <a:t>05 / 09   ·   ปวริศช์   ·   70 วินาที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28800"/>
            <a:ext cx="2560320" cy="731520"/>
          </a:xfrm>
          <a:prstGeom prst="rect">
            <a:avLst/>
          </a:prstGeom>
          <a:solidFill>
            <a:srgbClr val="E9EFF3"/>
          </a:solidFill>
          <a:ln w="15240">
            <a:solidFill>
              <a:srgbClr val="2449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>
                <a:solidFill>
                  <a:srgbClr val="244966"/>
                </a:solidFill>
                <a:latin typeface="Sarabun"/>
              </a:defRPr>
            </a:pPr>
            <a:r>
              <a:t>Browser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0" y="1828800"/>
            <a:ext cx="2560320" cy="1005840"/>
          </a:xfrm>
          <a:prstGeom prst="rect">
            <a:avLst/>
          </a:prstGeom>
          <a:solidFill>
            <a:srgbClr val="E9EFF3"/>
          </a:solidFill>
          <a:ln w="15240">
            <a:solidFill>
              <a:srgbClr val="2449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>
                <a:solidFill>
                  <a:srgbClr val="244966"/>
                </a:solidFill>
                <a:latin typeface="Sarabun"/>
              </a:defRPr>
            </a:pPr>
            <a:r>
              <a:t>Python</a:t>
            </a:r>
            <a:br/>
            <a:r>
              <a:t>Windows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0" y="1828800"/>
            <a:ext cx="2560320" cy="1005840"/>
          </a:xfrm>
          <a:prstGeom prst="rect">
            <a:avLst/>
          </a:prstGeom>
          <a:solidFill>
            <a:srgbClr val="E9EFF3"/>
          </a:solidFill>
          <a:ln w="15240">
            <a:solidFill>
              <a:srgbClr val="2449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>
                <a:solidFill>
                  <a:srgbClr val="244966"/>
                </a:solidFill>
                <a:latin typeface="Sarabun"/>
              </a:defRPr>
            </a:pPr>
            <a:r>
              <a:t>C</a:t>
            </a:r>
            <a:br/>
            <a:r>
              <a:t>Ubuntu WSL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383280" y="2157984"/>
            <a:ext cx="868680" cy="201168"/>
          </a:xfrm>
          <a:prstGeom prst="rightArrow">
            <a:avLst/>
          </a:prstGeom>
          <a:solidFill>
            <a:srgbClr val="244966"/>
          </a:solidFill>
          <a:ln w="15240">
            <a:solidFill>
              <a:srgbClr val="2449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7406640" y="2157984"/>
            <a:ext cx="868680" cy="201168"/>
          </a:xfrm>
          <a:prstGeom prst="rightArrow">
            <a:avLst/>
          </a:prstGeom>
          <a:solidFill>
            <a:srgbClr val="244966"/>
          </a:solidFill>
          <a:ln w="15240">
            <a:solidFill>
              <a:srgbClr val="2449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1609344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200" b="1">
                <a:solidFill>
                  <a:srgbClr val="244966"/>
                </a:solidFill>
                <a:latin typeface="Sarabun"/>
              </a:defRPr>
            </a:pPr>
            <a:r>
              <a:t>HTTP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536192"/>
            <a:ext cx="1417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200" b="1">
                <a:solidFill>
                  <a:srgbClr val="244966"/>
                </a:solidFill>
                <a:latin typeface="Sarabun"/>
              </a:defRPr>
            </a:pPr>
            <a:r>
              <a:t>เปิด process</a:t>
            </a:r>
          </a:p>
        </p:txBody>
      </p:sp>
      <p:sp>
        <p:nvSpPr>
          <p:cNvPr id="11" name="Left Arrow 10"/>
          <p:cNvSpPr/>
          <p:nvPr/>
        </p:nvSpPr>
        <p:spPr>
          <a:xfrm>
            <a:off x="7406640" y="3429000"/>
            <a:ext cx="868680" cy="201168"/>
          </a:xfrm>
          <a:prstGeom prst="leftArrow">
            <a:avLst/>
          </a:prstGeom>
          <a:solidFill>
            <a:srgbClr val="244966"/>
          </a:solidFill>
          <a:ln w="15240">
            <a:solidFill>
              <a:srgbClr val="2449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33488" y="3685032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400" b="1">
                <a:solidFill>
                  <a:srgbClr val="244966"/>
                </a:solidFill>
                <a:latin typeface="Sarabun"/>
              </a:defRPr>
            </a:pPr>
            <a:r>
              <a:t>stdout pipe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400" b="1">
                <a:solidFill>
                  <a:srgbClr val="244966"/>
                </a:solidFill>
                <a:latin typeface="Sarabun"/>
              </a:defRPr>
            </a:pPr>
            <a:r>
              <a:t>NDJSON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49039"/>
            <a:ext cx="5943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600" b="0">
                <a:solidFill>
                  <a:srgbClr val="1F2933"/>
                </a:solidFill>
                <a:latin typeface="Sarabun"/>
              </a:defRPr>
            </a:pPr>
            <a:r>
              <a:t>Python รับทีละบรรทัด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600" b="0">
                <a:solidFill>
                  <a:srgbClr val="1F2933"/>
                </a:solidFill>
                <a:latin typeface="Sarabun"/>
              </a:defRPr>
            </a:pPr>
            <a:r>
              <a:t>เก็บผลใน SQLite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600" b="0">
                <a:solidFill>
                  <a:srgbClr val="1F2933"/>
                </a:solidFill>
                <a:latin typeface="Sarabun"/>
              </a:defRPr>
            </a:pPr>
            <a:r>
              <a:t>สแกนเป็นงานเบื้องหลัง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999232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400" b="0">
                <a:solidFill>
                  <a:srgbClr val="526575"/>
                </a:solidFill>
                <a:latin typeface="Sarabun"/>
              </a:defRPr>
            </a:pPr>
            <a:r>
              <a:t>ทั้งหมดอยู่บน Windows เครื่องเดียว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600" b="1">
                <a:solidFill>
                  <a:srgbClr val="244966"/>
                </a:solidFill>
                <a:latin typeface="Sarabun"/>
              </a:defRPr>
            </a:pPr>
            <a:r>
              <a:t>Cancel: TERM → KILL หากจำเป็น → ตรวจ PID หยุด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3600" b="1">
                <a:solidFill>
                  <a:srgbClr val="244966"/>
                </a:solidFill>
                <a:latin typeface="Sarabun"/>
              </a:defRPr>
            </a:pPr>
            <a:r>
              <a:t>Logical และ Allocated วัดคนละสิ่ง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55664"/>
            <a:ext cx="1097280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400" b="0">
                <a:solidFill>
                  <a:srgbClr val="526575"/>
                </a:solidFill>
                <a:latin typeface="Sarabun"/>
              </a:defRPr>
            </a:pPr>
            <a:r>
              <a:t>06 / 09   ·   ปวริศช์   ·   60 วินาที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3736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700" b="1">
                <a:solidFill>
                  <a:srgbClr val="244966"/>
                </a:solidFill>
                <a:latin typeface="Sarabun"/>
              </a:defRPr>
            </a:pPr>
            <a:r>
              <a:t>Logical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700" b="1">
                <a:solidFill>
                  <a:srgbClr val="244966"/>
                </a:solidFill>
                <a:latin typeface="Sarabun"/>
              </a:defRPr>
            </a:pPr>
            <a:r>
              <a:t>st_size จาก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17373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700" b="1">
                <a:solidFill>
                  <a:srgbClr val="244966"/>
                </a:solidFill>
                <a:latin typeface="Sarabun"/>
              </a:defRPr>
            </a:pPr>
            <a:r>
              <a:t>Allocated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0" y="2386584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400" b="1">
                <a:solidFill>
                  <a:srgbClr val="244966"/>
                </a:solidFill>
                <a:latin typeface="Sarabun"/>
              </a:defRPr>
            </a:pPr>
            <a:r>
              <a:t>GetCompressedFileSizeW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971800"/>
          <a:ext cx="1083564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0440"/>
                <a:gridCol w="3657600"/>
                <a:gridCol w="3657600"/>
              </a:tblGrid>
              <a:tr h="563880">
                <a:tc>
                  <a:txBody>
                    <a:bodyPr/>
                    <a:lstStyle/>
                    <a:p>
                      <a:pPr>
                        <a:defRPr sz="2400">
                          <a:solidFill>
                            <a:srgbClr val="1F2933"/>
                          </a:solidFill>
                          <a:latin typeface="Sarabun"/>
                        </a:defRPr>
                      </a:pPr>
                      <a:r>
                        <a:t>ไฟล์ที่ตรวจจริง</a:t>
                      </a:r>
                    </a:p>
                  </a:txBody>
                  <a:tcPr>
                    <a:solidFill>
                      <a:srgbClr val="E9EF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400">
                          <a:solidFill>
                            <a:srgbClr val="1F2933"/>
                          </a:solidFill>
                          <a:latin typeface="Sarabun"/>
                        </a:defRPr>
                      </a:pPr>
                      <a:r>
                        <a:t>Logical (bytes)</a:t>
                      </a:r>
                    </a:p>
                  </a:txBody>
                  <a:tcPr>
                    <a:solidFill>
                      <a:srgbClr val="E9EF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400">
                          <a:solidFill>
                            <a:srgbClr val="1F2933"/>
                          </a:solidFill>
                          <a:latin typeface="Sarabun"/>
                        </a:defRPr>
                      </a:pPr>
                      <a:r>
                        <a:t>Allocated (bytes)</a:t>
                      </a:r>
                    </a:p>
                  </a:txBody>
                  <a:tcPr>
                    <a:solidFill>
                      <a:srgbClr val="E9EFF3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>
                        <a:defRPr sz="2400">
                          <a:solidFill>
                            <a:srgbClr val="1F2933"/>
                          </a:solidFill>
                          <a:latin typeface="Sarabun"/>
                        </a:defRPr>
                      </a:pPr>
                      <a:r>
                        <a:t>zero.bin</a:t>
                      </a:r>
                    </a:p>
                  </a:txBody>
                  <a:tcPr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400">
                          <a:solidFill>
                            <a:srgbClr val="1F2933"/>
                          </a:solidFill>
                          <a:latin typeface="Sarabun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400">
                          <a:solidFill>
                            <a:srgbClr val="1F2933"/>
                          </a:solidFill>
                          <a:latin typeface="Sarabun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DF7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>
                        <a:defRPr sz="2400">
                          <a:solidFill>
                            <a:srgbClr val="1F2933"/>
                          </a:solidFill>
                          <a:latin typeface="Sarabun"/>
                        </a:defRPr>
                      </a:pPr>
                      <a:r>
                        <a:t>large.bin</a:t>
                      </a:r>
                    </a:p>
                  </a:txBody>
                  <a:tcPr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400">
                          <a:solidFill>
                            <a:srgbClr val="1F2933"/>
                          </a:solidFill>
                          <a:latin typeface="Sarabun"/>
                        </a:defRPr>
                      </a:pPr>
                      <a:r>
                        <a:t>1,048,576</a:t>
                      </a:r>
                    </a:p>
                  </a:txBody>
                  <a:tcPr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400">
                          <a:solidFill>
                            <a:srgbClr val="1F2933"/>
                          </a:solidFill>
                          <a:latin typeface="Sarabun"/>
                        </a:defRPr>
                      </a:pPr>
                      <a:r>
                        <a:t>1,048,576</a:t>
                      </a:r>
                    </a:p>
                  </a:txBody>
                  <a:tcPr>
                    <a:solidFill>
                      <a:srgbClr val="FFFD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98348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400" b="0">
                <a:solidFill>
                  <a:srgbClr val="1F2933"/>
                </a:solidFill>
                <a:latin typeface="Sarabun"/>
              </a:defRPr>
            </a:pPr>
            <a:r>
              <a:t>0 = วัดได้ศูนย์ · null = ยังไม่ทราบหรือวัดไม่ได้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400" b="0">
                <a:solidFill>
                  <a:srgbClr val="1F2933"/>
                </a:solidFill>
                <a:latin typeface="Sarabun"/>
              </a:defRPr>
            </a:pPr>
            <a:r>
              <a:t>ยอดโฟลเดอร์ = รวมไฟล์ที่อ่านได้ทั้งหมด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007608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526575"/>
                </a:solidFill>
                <a:latin typeface="Sarabun"/>
              </a:defRPr>
            </a:pPr>
            <a:r>
              <a:t>compressed / sparse อาจทำให้ต่างกัน — เป็นคำอธิบายทฤษฎี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3600" b="1">
                <a:solidFill>
                  <a:srgbClr val="244966"/>
                </a:solidFill>
                <a:latin typeface="Sarabun"/>
              </a:defRPr>
            </a:pPr>
            <a:r>
              <a:t>เดโมระบบจริง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55664"/>
            <a:ext cx="1097280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400" b="0">
                <a:solidFill>
                  <a:srgbClr val="526575"/>
                </a:solidFill>
                <a:latin typeface="Sarabun"/>
              </a:defRPr>
            </a:pPr>
            <a:r>
              <a:t>07 / 09   ·   ธีรเมธ   ·   120 วินาที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50292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600" b="0">
                <a:solidFill>
                  <a:srgbClr val="1F2933"/>
                </a:solidFill>
                <a:latin typeface="Sarabun"/>
              </a:defRPr>
            </a:pPr>
            <a:r>
              <a:t>01  Scan และดูสถานะ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600" b="0">
                <a:solidFill>
                  <a:srgbClr val="1F2933"/>
                </a:solidFill>
                <a:latin typeface="Sarabun"/>
              </a:defRPr>
            </a:pPr>
            <a:r>
              <a:t>02  ดูกราฟแท่งแล้วกดเข้าโฟลเดอร์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600" b="0">
                <a:solidFill>
                  <a:srgbClr val="1F2933"/>
                </a:solidFill>
                <a:latin typeface="Sarabun"/>
              </a:defRPr>
            </a:pPr>
            <a:r>
              <a:t>03  กาง tree และแสดงเพิ่มเติม 50+10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600" b="0">
                <a:solidFill>
                  <a:srgbClr val="1F2933"/>
                </a:solidFill>
                <a:latin typeface="Sarabun"/>
              </a:defRPr>
            </a:pPr>
            <a:r>
              <a:t>04  ดูขนาด / Reveal / เหตุผลที่ข้าม</a:t>
            </a:r>
          </a:p>
        </p:txBody>
      </p:sp>
      <p:pic>
        <p:nvPicPr>
          <p:cNvPr id="5" name="Picture 4" descr="size-bars-real-man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865" y="1920240"/>
            <a:ext cx="3499308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97880" y="5303520"/>
            <a:ext cx="5669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526575"/>
                </a:solidFill>
                <a:latin typeface="Sarabun"/>
              </a:defRPr>
            </a:pPr>
            <a:r>
              <a:t>ภาพจาก C จริง: กราฟไฟล์ใน many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526575"/>
                </a:solidFill>
                <a:latin typeface="Sarabun"/>
              </a:defRPr>
            </a:pPr>
            <a:r>
              <a:t>10 จาก 50 รายการที่โหลดแล้ว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400" b="1">
                <a:solidFill>
                  <a:srgbClr val="244966"/>
                </a:solidFill>
                <a:latin typeface="Sarabun"/>
              </a:defRPr>
            </a:pPr>
            <a:r>
              <a:t>รอแทรกวิดีโอเดโมจริง 2 นาที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3600" b="1">
                <a:solidFill>
                  <a:srgbClr val="244966"/>
                </a:solidFill>
                <a:latin typeface="Sarabun"/>
              </a:defRPr>
            </a:pPr>
            <a:r>
              <a:t>ผลตรวจและข้อจำกัด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55664"/>
            <a:ext cx="1097280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400" b="0">
                <a:solidFill>
                  <a:srgbClr val="526575"/>
                </a:solidFill>
                <a:latin typeface="Sarabun"/>
              </a:defRPr>
            </a:pPr>
            <a:r>
              <a:t>08 / 09   ·   ธีรเมธ   ·   40 วินาที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800" b="1">
                <a:solidFill>
                  <a:srgbClr val="244966"/>
                </a:solidFill>
                <a:latin typeface="Sarabun"/>
              </a:defRPr>
            </a:pPr>
            <a:r>
              <a:t>ผลที่ตรวจแล้ว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60320"/>
            <a:ext cx="55778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400" b="0">
                <a:solidFill>
                  <a:srgbClr val="1F2933"/>
                </a:solidFill>
                <a:latin typeface="Sarabun"/>
              </a:defRPr>
            </a:pPr>
            <a:r>
              <a:t>64 ไฟล์ / 13 โฟลเดอร์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400" b="0">
                <a:solidFill>
                  <a:srgbClr val="1F2933"/>
                </a:solidFill>
                <a:latin typeface="Sarabun"/>
              </a:defRPr>
            </a:pPr>
            <a:r>
              <a:t>ชื่อไทย · ลึก 8 ชั้น · หน้า 50+10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400" b="0">
                <a:solidFill>
                  <a:srgbClr val="1F2933"/>
                </a:solidFill>
                <a:latin typeface="Sarabun"/>
              </a:defRPr>
            </a:pPr>
            <a:r>
              <a:t>กราฟ/เบราว์เซอร์ 7 กรณีผ่าน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400" b="0">
                <a:solidFill>
                  <a:srgbClr val="1F2933"/>
                </a:solidFill>
                <a:latin typeface="Sarabun"/>
              </a:defRPr>
            </a:pPr>
            <a:r>
              <a:t>Python 23 ข้อผ่าน (12 ข้าม)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400" b="0">
                <a:solidFill>
                  <a:srgbClr val="1F2933"/>
                </a:solidFill>
                <a:latin typeface="Sarabun"/>
              </a:defRPr>
            </a:pPr>
            <a:r>
              <a:t>C 11 ข้อผ่านใน Ubuntu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78308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800" b="1">
                <a:solidFill>
                  <a:srgbClr val="244966"/>
                </a:solidFill>
                <a:latin typeface="Sarabun"/>
              </a:defRPr>
            </a:pPr>
            <a:r>
              <a:t>ขอบเขตที่ยังไม่ได้ยืนยัน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560320"/>
            <a:ext cx="51206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400" b="0">
                <a:solidFill>
                  <a:srgbClr val="1F2933"/>
                </a:solidFill>
                <a:latin typeface="Sarabun"/>
              </a:defRPr>
            </a:pPr>
            <a:r>
              <a:t>ยกเลิกไดรฟ์ D ได้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400" b="0">
                <a:solidFill>
                  <a:srgbClr val="1F2933"/>
                </a:solidFill>
                <a:latin typeface="Sarabun"/>
              </a:defRPr>
            </a:pPr>
            <a:r>
              <a:t>แต่ยังไม่ได้รอสแกนทั้งไดรฟ์จบ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400" b="0">
                <a:solidFill>
                  <a:srgbClr val="1F2933"/>
                </a:solidFill>
                <a:latin typeface="Sarabun"/>
              </a:defRPr>
            </a:pPr>
          </a:p>
          <a:p>
            <a:pPr>
              <a:lnSpc>
                <a:spcPct val="115000"/>
              </a:lnSpc>
              <a:spcAft>
                <a:spcPts val="800"/>
              </a:spcAft>
              <a:defRPr sz="2400" b="0">
                <a:solidFill>
                  <a:srgbClr val="1F2933"/>
                </a:solidFill>
                <a:latin typeface="Sarabun"/>
              </a:defRPr>
            </a:pPr>
            <a:r>
              <a:t>ยังไม่ครอบคลุมทุกสิทธิ์ NTFS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400" b="0">
                <a:solidFill>
                  <a:srgbClr val="1F2933"/>
                </a:solidFill>
                <a:latin typeface="Sarabun"/>
              </a:defRPr>
            </a:pPr>
            <a:r>
              <a:t>ยอดรวมไฟล์อาจไม่เท่าพื้นที่ใช้ไดรฟ์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600" b="1">
                <a:solidFill>
                  <a:srgbClr val="244966"/>
                </a:solidFill>
                <a:latin typeface="Sarabun"/>
              </a:defRPr>
            </a:pPr>
            <a:r>
              <a:t>ผลบางส่วนต้องมีเหตุผล ไม่แทนค่าที่ไม่ทราบด้วยศูนย์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55664"/>
            <a:ext cx="1097280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400" b="0">
                <a:solidFill>
                  <a:srgbClr val="526575"/>
                </a:solidFill>
                <a:latin typeface="Sarabun"/>
              </a:defRPr>
            </a:pPr>
            <a:r>
              <a:t>09 / 09   ·   ธีรเมธ   ·   5 วินาที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82880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5400" b="1">
                <a:solidFill>
                  <a:srgbClr val="244966"/>
                </a:solidFill>
                <a:latin typeface="Sarabun"/>
              </a:defRPr>
            </a:pPr>
            <a:r>
              <a:t>ขอบคุณครับ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01752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3000" b="0">
                <a:solidFill>
                  <a:srgbClr val="1F2933"/>
                </a:solidFill>
                <a:latin typeface="Sarabun"/>
              </a:defRPr>
            </a:pPr>
            <a:r>
              <a:t>CoreSpace · Disk Space Visualization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148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400" b="0">
                <a:solidFill>
                  <a:srgbClr val="244966"/>
                </a:solidFill>
                <a:latin typeface="Sarabun"/>
              </a:defRPr>
            </a:pPr>
            <a:r>
              <a:rPr>
                <a:hlinkClick r:id="rId3"/>
              </a:rPr>
              <a:t>https://github.com/PavaritPramual/miniprojectOS2026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